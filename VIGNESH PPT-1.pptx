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AC537-2AF5-4EC8-A808-D9B3E16E4B4D}" v="38" dt="2026-03-08T17:58:40.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1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762000" y="7778451"/>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N. </a:t>
            </a:r>
            <a:r>
              <a:rPr lang="en-US" sz="3000">
                <a:latin typeface="Cambria" panose="02040503050406030204" pitchFamily="18" charset="0"/>
                <a:ea typeface="Cambria" panose="02040503050406030204" pitchFamily="18" charset="0"/>
              </a:rPr>
              <a:t>SAI VIGNESH </a:t>
            </a:r>
            <a:r>
              <a:rPr lang="en-US" sz="3000" dirty="0">
                <a:latin typeface="Cambria" panose="02040503050406030204" pitchFamily="18" charset="0"/>
                <a:ea typeface="Cambria" panose="02040503050406030204" pitchFamily="18" charset="0"/>
              </a:rPr>
              <a:t>–VTU25573-23UECS0828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Dr.S.HEMAMALINI-M.E,Ph.D</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a:t>
            </a:r>
            <a:r>
              <a:rPr lang="en-US" sz="2000" b="1">
                <a:latin typeface="Cambria" panose="02040503050406030204" pitchFamily="18" charset="0"/>
                <a:ea typeface="Cambria" panose="02040503050406030204" pitchFamily="18" charset="0"/>
              </a:rPr>
              <a:t>Quality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84470" y="1952203"/>
            <a:ext cx="15082325" cy="7478970"/>
          </a:xfrm>
          <a:prstGeom prst="rect">
            <a:avLst/>
          </a:prstGeom>
          <a:noFill/>
        </p:spPr>
        <p:txBody>
          <a:bodyPr wrap="square" rtlCol="0">
            <a:spAutoFit/>
          </a:bodyPr>
          <a:lstStyle/>
          <a:p>
            <a:r>
              <a:rPr lang="en-US" sz="3200" dirty="0"/>
              <a:t>In modern academic environments, students and faculty often interact with shared event data such as workshops, seminars, and campus activities. Ensuring real-time updates is essential for effective communication and coordination. Traditional systems require users to manually refresh pages to view the latest event information, which can lead to delays, missed updates, and confusion.</a:t>
            </a:r>
          </a:p>
          <a:p>
            <a:r>
              <a:rPr lang="en-US" sz="3200" dirty="0"/>
              <a:t>This project, </a:t>
            </a:r>
            <a:r>
              <a:rPr lang="en-US" sz="3200" b="1" dirty="0"/>
              <a:t>Academic Campus Event &amp; Registration Portal</a:t>
            </a:r>
            <a:r>
              <a:rPr lang="en-US" sz="3200" dirty="0"/>
              <a:t>, addresses this issue by providing a platform where event updates are instantly reflected across all users. Whenever an event is created, updated, or deleted, the changes are automatically synchronized in real time. This allows students and staff to stay informed about upcoming events, registration status, and important announcements without any delay.</a:t>
            </a:r>
          </a:p>
          <a:p>
            <a:r>
              <a:rPr lang="en-US" sz="3200" dirty="0"/>
              <a:t>The system improves collaboration, enhances user experience, and ensures efficient event management within the campus. It is especially useful for managing academic events, student registrations, and notifications in a centralized platform. The application is developed using technologies such as Node.js, Express.js, and MongoDB to efficiently handle and synchronize event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sp>
        <p:nvSpPr>
          <p:cNvPr id="4" name="Rectangle 3">
            <a:extLst>
              <a:ext uri="{FF2B5EF4-FFF2-40B4-BE49-F238E27FC236}">
                <a16:creationId xmlns:a16="http://schemas.microsoft.com/office/drawing/2014/main" id="{793E4812-A306-2A56-94F5-F6D6775D48C6}"/>
              </a:ext>
            </a:extLst>
          </p:cNvPr>
          <p:cNvSpPr>
            <a:spLocks noChangeArrowheads="1"/>
          </p:cNvSpPr>
          <p:nvPr/>
        </p:nvSpPr>
        <p:spPr bwMode="auto">
          <a:xfrm rot="10800000" flipV="1">
            <a:off x="1750709" y="2107616"/>
            <a:ext cx="15654937"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Arial" panose="020B0604020202020204" pitchFamily="34" charset="0"/>
              <a:buChar char="•"/>
            </a:pPr>
            <a:r>
              <a:rPr lang="en-US" sz="2800" dirty="0"/>
              <a:t>Many existing campus event management systems do not provide real-time updates when multiple users access or modify event information.</a:t>
            </a:r>
          </a:p>
          <a:p>
            <a:pPr marL="457200" lvl="0" indent="-457200" eaLnBrk="0" fontAlgn="base" hangingPunct="0">
              <a:spcBef>
                <a:spcPct val="0"/>
              </a:spcBef>
              <a:spcAft>
                <a:spcPct val="0"/>
              </a:spcAft>
              <a:buFont typeface="Arial" panose="020B0604020202020204" pitchFamily="34" charset="0"/>
              <a:buChar char="•"/>
            </a:pPr>
            <a:r>
              <a:rPr lang="en-US" sz="2800" dirty="0"/>
              <a:t>Students and faculty often need to manually refresh the page to view the latest updates.</a:t>
            </a:r>
          </a:p>
          <a:p>
            <a:pPr marL="457200" lvl="0" indent="-457200" eaLnBrk="0" fontAlgn="base" hangingPunct="0">
              <a:spcBef>
                <a:spcPct val="0"/>
              </a:spcBef>
              <a:spcAft>
                <a:spcPct val="0"/>
              </a:spcAft>
              <a:buFont typeface="Arial" panose="020B0604020202020204" pitchFamily="34" charset="0"/>
              <a:buChar char="•"/>
            </a:pPr>
            <a:r>
              <a:rPr lang="en-US" sz="2800" dirty="0"/>
              <a:t>This results in delays and inconsistent event information across different users.</a:t>
            </a:r>
          </a:p>
          <a:p>
            <a:pPr marL="457200" lvl="0" indent="-457200" eaLnBrk="0" fontAlgn="base" hangingPunct="0">
              <a:spcBef>
                <a:spcPct val="0"/>
              </a:spcBef>
              <a:spcAft>
                <a:spcPct val="0"/>
              </a:spcAft>
              <a:buFont typeface="Arial" panose="020B0604020202020204" pitchFamily="34" charset="0"/>
              <a:buChar char="•"/>
            </a:pPr>
            <a:r>
              <a:rPr lang="en-US" sz="2800" dirty="0"/>
              <a:t>Managing academic events such as workshops, seminars, and registrations becomes difficult without instant synchronization.</a:t>
            </a:r>
          </a:p>
          <a:p>
            <a:pPr marL="457200" lvl="0" indent="-457200" eaLnBrk="0" fontAlgn="base" hangingPunct="0">
              <a:spcBef>
                <a:spcPct val="0"/>
              </a:spcBef>
              <a:spcAft>
                <a:spcPct val="0"/>
              </a:spcAft>
              <a:buFont typeface="Arial" panose="020B0604020202020204" pitchFamily="34" charset="0"/>
              <a:buChar char="•"/>
            </a:pPr>
            <a:r>
              <a:rPr lang="en-US" sz="2800" dirty="0"/>
              <a:t>The lack of real-time communication reduces coordination and collaboration among students, organizers, and faculty.</a:t>
            </a:r>
          </a:p>
          <a:p>
            <a:pPr marL="457200" lvl="0" indent="-457200" eaLnBrk="0" fontAlgn="base" hangingPunct="0">
              <a:spcBef>
                <a:spcPct val="0"/>
              </a:spcBef>
              <a:spcAft>
                <a:spcPct val="0"/>
              </a:spcAft>
              <a:buFont typeface="Arial" panose="020B0604020202020204" pitchFamily="34" charset="0"/>
              <a:buChar char="•"/>
            </a:pPr>
            <a:r>
              <a:rPr lang="en-US" sz="2800" dirty="0"/>
              <a:t>It may also lead to issues like duplicate registrations or outdated event details when multiple users interact with the system simultaneously.</a:t>
            </a:r>
          </a:p>
          <a:p>
            <a:pPr marL="457200" lvl="0" indent="-457200" eaLnBrk="0" fontAlgn="base" hangingPunct="0">
              <a:spcBef>
                <a:spcPct val="0"/>
              </a:spcBef>
              <a:spcAft>
                <a:spcPct val="0"/>
              </a:spcAft>
              <a:buFont typeface="Arial" panose="020B0604020202020204" pitchFamily="34" charset="0"/>
              <a:buChar char="•"/>
            </a:pPr>
            <a:r>
              <a:rPr lang="en-US" sz="2800" dirty="0"/>
              <a:t>Therefore, there is a need for a system that automatically synchronizes campus event updates in real time.</a:t>
            </a:r>
          </a:p>
          <a:p>
            <a:pPr marL="457200" lvl="0" indent="-457200" eaLnBrk="0" fontAlgn="base" hangingPunct="0">
              <a:spcBef>
                <a:spcPct val="0"/>
              </a:spcBef>
              <a:spcAft>
                <a:spcPct val="0"/>
              </a:spcAft>
              <a:buFont typeface="Arial" panose="020B0604020202020204" pitchFamily="34" charset="0"/>
              <a:buChar char="•"/>
            </a:pPr>
            <a:r>
              <a:rPr lang="en-US" sz="2800" dirty="0"/>
              <a:t>The </a:t>
            </a:r>
            <a:r>
              <a:rPr lang="en-US" sz="2800" b="1" dirty="0"/>
              <a:t>Academic Campus Event &amp; Registration Portal</a:t>
            </a:r>
            <a:r>
              <a:rPr lang="en-US" sz="2800" dirty="0"/>
              <a:t> addresses this problem by ensuring instant updates, improved data consistency, and efficient event management.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25D069FA-122B-7C24-7496-9D2120C28E0B}"/>
              </a:ext>
            </a:extLst>
          </p:cNvPr>
          <p:cNvSpPr>
            <a:spLocks noChangeArrowheads="1"/>
          </p:cNvSpPr>
          <p:nvPr/>
        </p:nvSpPr>
        <p:spPr bwMode="auto">
          <a:xfrm rot="10800000" flipV="1">
            <a:off x="1794863" y="2171470"/>
            <a:ext cx="1649313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3200" dirty="0"/>
              <a:t>To design and develop an </a:t>
            </a:r>
            <a:r>
              <a:rPr lang="en-US" sz="3200" b="1" dirty="0"/>
              <a:t>Academic Campus Event &amp; Registration Portal</a:t>
            </a:r>
            <a:r>
              <a:rPr lang="en-US" sz="3200" dirty="0"/>
              <a:t> that enables students, faculty, and organizers to create, update, and manage campus events efficiently.</a:t>
            </a:r>
          </a:p>
          <a:p>
            <a:pPr marL="457200" indent="-457200">
              <a:buFont typeface="Arial" panose="020B0604020202020204" pitchFamily="34" charset="0"/>
              <a:buChar char="•"/>
            </a:pPr>
            <a:r>
              <a:rPr lang="en-US" sz="3200" dirty="0"/>
              <a:t>To implement real-time data synchronization so that all event updates (such as event details, schedules, and registrations) are instantly reflected across all users without requiring page refresh.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5163422" y="9440882"/>
            <a:ext cx="12128703" cy="523220"/>
          </a:xfrm>
          <a:prstGeom prst="rect">
            <a:avLst/>
          </a:prstGeom>
          <a:noFill/>
        </p:spPr>
        <p:txBody>
          <a:bodyPr wrap="square" rtlCol="0">
            <a:spAutoFit/>
          </a:bodyPr>
          <a:lstStyle/>
          <a:p>
            <a:pPr marL="457200" indent="-457200">
              <a:buFontTx/>
              <a:buChar char="-"/>
            </a:pPr>
            <a:endParaRPr lang="en-IN" sz="2800" dirty="0"/>
          </a:p>
        </p:txBody>
      </p:sp>
      <p:sp>
        <p:nvSpPr>
          <p:cNvPr id="2" name="Rectangle 1">
            <a:extLst>
              <a:ext uri="{FF2B5EF4-FFF2-40B4-BE49-F238E27FC236}">
                <a16:creationId xmlns:a16="http://schemas.microsoft.com/office/drawing/2014/main" id="{54CC734F-61EA-8EB3-A5A9-AC1BE74EB1C2}"/>
              </a:ext>
            </a:extLst>
          </p:cNvPr>
          <p:cNvSpPr>
            <a:spLocks noChangeArrowheads="1"/>
          </p:cNvSpPr>
          <p:nvPr/>
        </p:nvSpPr>
        <p:spPr bwMode="auto">
          <a:xfrm rot="10800000" flipV="1">
            <a:off x="1817223" y="1601174"/>
            <a:ext cx="14969137" cy="797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sz="3200" dirty="0"/>
              <a:t>The system provides a real-time platform where students, faculty, and event organizers can create, update, and manage campus events and registrations simultaneously.</a:t>
            </a:r>
          </a:p>
          <a:p>
            <a:pPr lvl="0" eaLnBrk="0" fontAlgn="base" hangingPunct="0">
              <a:spcBef>
                <a:spcPct val="0"/>
              </a:spcBef>
              <a:spcAft>
                <a:spcPct val="0"/>
              </a:spcAft>
              <a:buFontTx/>
              <a:buChar char="•"/>
            </a:pPr>
            <a:r>
              <a:rPr lang="en-US" sz="3200" dirty="0"/>
              <a:t>It uses real-time communication (such as WebSocket-based technology) to instantly synchronize event data between the server and all connected users.</a:t>
            </a:r>
          </a:p>
          <a:p>
            <a:pPr lvl="0" eaLnBrk="0" fontAlgn="base" hangingPunct="0">
              <a:spcBef>
                <a:spcPct val="0"/>
              </a:spcBef>
              <a:spcAft>
                <a:spcPct val="0"/>
              </a:spcAft>
              <a:buFontTx/>
              <a:buChar char="•"/>
            </a:pPr>
            <a:r>
              <a:rPr lang="en-US" sz="3200" dirty="0"/>
              <a:t>Whenever an event or registration detail is modified by one user, the update is automatically reflected to all other users in real time.</a:t>
            </a:r>
          </a:p>
          <a:p>
            <a:pPr lvl="0" eaLnBrk="0" fontAlgn="base" hangingPunct="0">
              <a:spcBef>
                <a:spcPct val="0"/>
              </a:spcBef>
              <a:spcAft>
                <a:spcPct val="0"/>
              </a:spcAft>
              <a:buFontTx/>
              <a:buChar char="•"/>
            </a:pPr>
            <a:r>
              <a:rPr lang="en-US" sz="3200" dirty="0"/>
              <a:t>The system securely stores event and registration data in a database to ensure consistency, accuracy, and reliability.</a:t>
            </a:r>
          </a:p>
          <a:p>
            <a:pPr lvl="0" eaLnBrk="0" fontAlgn="base" hangingPunct="0">
              <a:spcBef>
                <a:spcPct val="0"/>
              </a:spcBef>
              <a:spcAft>
                <a:spcPct val="0"/>
              </a:spcAft>
              <a:buFontTx/>
              <a:buChar char="•"/>
            </a:pPr>
            <a:r>
              <a:rPr lang="en-US" sz="3200" dirty="0"/>
              <a:t>This solution eliminates the need for manual page refresh to view the latest event updates.</a:t>
            </a:r>
          </a:p>
          <a:p>
            <a:pPr lvl="0" eaLnBrk="0" fontAlgn="base" hangingPunct="0">
              <a:spcBef>
                <a:spcPct val="0"/>
              </a:spcBef>
              <a:spcAft>
                <a:spcPct val="0"/>
              </a:spcAft>
              <a:buFontTx/>
              <a:buChar char="•"/>
            </a:pPr>
            <a:r>
              <a:rPr lang="en-US" sz="3200" dirty="0"/>
              <a:t>It enhances collaboration by ensuring that all users have access to up-to-date information about campus events and registrations.</a:t>
            </a:r>
          </a:p>
          <a:p>
            <a:pPr lvl="0" eaLnBrk="0" fontAlgn="base" hangingPunct="0">
              <a:spcBef>
                <a:spcPct val="0"/>
              </a:spcBef>
              <a:spcAft>
                <a:spcPct val="0"/>
              </a:spcAft>
              <a:buFontTx/>
              <a:buChar char="•"/>
            </a:pPr>
            <a:r>
              <a:rPr lang="en-US" sz="3200" dirty="0"/>
              <a:t>The system reduces issues such as duplicate registrations and outdated event details when multiple users interact simultaneously.</a:t>
            </a:r>
          </a:p>
          <a:p>
            <a:pPr lvl="0" eaLnBrk="0" fontAlgn="base" hangingPunct="0">
              <a:spcBef>
                <a:spcPct val="0"/>
              </a:spcBef>
              <a:spcAft>
                <a:spcPct val="0"/>
              </a:spcAft>
              <a:buFontTx/>
              <a:buChar char="•"/>
            </a:pPr>
            <a:r>
              <a:rPr lang="en-US" sz="3200" dirty="0"/>
              <a:t>Compared to traditional systems, it offers faster updates, improved efficiency, and a better user experience in managing academic events.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3657600" y="-5709302"/>
            <a:ext cx="15082325" cy="8279190"/>
          </a:xfrm>
          <a:prstGeom prst="rect">
            <a:avLst/>
          </a:prstGeom>
          <a:noFill/>
        </p:spPr>
        <p:txBody>
          <a:bodyPr wrap="square" rtlCol="0">
            <a:spAutoFit/>
          </a:bodyPr>
          <a:lstStyle/>
          <a:p>
            <a:pPr marL="457200" indent="-457200">
              <a:buFontTx/>
              <a:buChar char="-"/>
            </a:pPr>
            <a:r>
              <a:rPr lang="en-US" sz="2800" dirty="0"/>
              <a:t>(Insert block diagram)  -</a:t>
            </a:r>
          </a:p>
          <a:p>
            <a:pPr marL="457200" indent="-457200">
              <a:buFontTx/>
              <a:buChar char="-"/>
            </a:pPr>
            <a:endParaRPr lang="en-US" sz="2800" dirty="0"/>
          </a:p>
          <a:p>
            <a:pPr marL="457200" indent="-457200">
              <a:buFontTx/>
              <a:buChar char="-"/>
            </a:pPr>
            <a:r>
              <a:rPr lang="en-US" sz="2800" dirty="0"/>
              <a:t>Explain:</a:t>
            </a:r>
          </a:p>
          <a:p>
            <a:pPr marL="1371600" lvl="2" indent="-457200">
              <a:buFont typeface="Wingdings" panose="05000000000000000000" pitchFamily="2" charset="2"/>
              <a:buChar char="Ø"/>
            </a:pPr>
            <a:r>
              <a:rPr lang="en-US" sz="2800" dirty="0"/>
              <a:t>Input</a:t>
            </a:r>
          </a:p>
          <a:p>
            <a:pPr marL="1371600" lvl="2" indent="-457200">
              <a:buFont typeface="Wingdings" panose="05000000000000000000" pitchFamily="2" charset="2"/>
              <a:buChar char="Ø"/>
            </a:pPr>
            <a:r>
              <a:rPr lang="en-US" sz="2800" dirty="0"/>
              <a:t>Processing</a:t>
            </a:r>
          </a:p>
          <a:p>
            <a:pPr marL="1371600" lvl="2" indent="-457200">
              <a:buFont typeface="Wingdings" panose="05000000000000000000" pitchFamily="2" charset="2"/>
              <a:buChar char="Ø"/>
            </a:pPr>
            <a:r>
              <a:rPr lang="en-US" sz="2800" dirty="0"/>
              <a:t>Database</a:t>
            </a:r>
          </a:p>
          <a:p>
            <a:pPr marL="1371600" lvl="2" indent="-457200">
              <a:buFont typeface="Wingdings" panose="05000000000000000000" pitchFamily="2" charset="2"/>
              <a:buChar char="Ø"/>
            </a:pPr>
            <a:r>
              <a:rPr lang="en-US" sz="2800" dirty="0"/>
              <a:t>Output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8C7AE29-8B0D-E87E-F050-C134C3109370}"/>
              </a:ext>
            </a:extLst>
          </p:cNvPr>
          <p:cNvPicPr>
            <a:picLocks noChangeAspect="1"/>
          </p:cNvPicPr>
          <p:nvPr/>
        </p:nvPicPr>
        <p:blipFill>
          <a:blip r:embed="rId3"/>
          <a:stretch>
            <a:fillRect/>
          </a:stretch>
        </p:blipFill>
        <p:spPr>
          <a:xfrm>
            <a:off x="2590800" y="1291822"/>
            <a:ext cx="14745691" cy="8499877"/>
          </a:xfrm>
          <a:prstGeom prst="rect">
            <a:avLst/>
          </a:prstGeom>
        </p:spPr>
      </p:pic>
      <p:pic>
        <p:nvPicPr>
          <p:cNvPr id="2" name="Picture 1">
            <a:extLst>
              <a:ext uri="{FF2B5EF4-FFF2-40B4-BE49-F238E27FC236}">
                <a16:creationId xmlns:a16="http://schemas.microsoft.com/office/drawing/2014/main" id="{9040B811-BF2A-E30C-232D-CC1E18706A54}"/>
              </a:ext>
            </a:extLst>
          </p:cNvPr>
          <p:cNvPicPr>
            <a:picLocks noChangeAspect="1"/>
          </p:cNvPicPr>
          <p:nvPr/>
        </p:nvPicPr>
        <p:blipFill>
          <a:blip r:embed="rId4"/>
          <a:stretch>
            <a:fillRect/>
          </a:stretch>
        </p:blipFill>
        <p:spPr>
          <a:xfrm>
            <a:off x="2506465" y="1433461"/>
            <a:ext cx="14630400" cy="87284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36A32239-80AF-3335-2765-5980AD79F8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7512" y="1243012"/>
            <a:ext cx="12372975" cy="7800975"/>
          </a:xfrm>
          <a:prstGeom prst="rect">
            <a:avLst/>
          </a:prstGeom>
        </p:spPr>
      </p:pic>
      <p:pic>
        <p:nvPicPr>
          <p:cNvPr id="3" name="Picture 2">
            <a:extLst>
              <a:ext uri="{FF2B5EF4-FFF2-40B4-BE49-F238E27FC236}">
                <a16:creationId xmlns:a16="http://schemas.microsoft.com/office/drawing/2014/main" id="{9D84C35C-7112-879D-C0D5-9C474591D66A}"/>
              </a:ext>
            </a:extLst>
          </p:cNvPr>
          <p:cNvPicPr>
            <a:picLocks noChangeAspect="1"/>
          </p:cNvPicPr>
          <p:nvPr/>
        </p:nvPicPr>
        <p:blipFill>
          <a:blip r:embed="rId4"/>
          <a:stretch>
            <a:fillRect/>
          </a:stretch>
        </p:blipFill>
        <p:spPr>
          <a:xfrm>
            <a:off x="1828800" y="1243012"/>
            <a:ext cx="14630400" cy="87772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6986528"/>
          </a:xfrm>
          <a:prstGeom prst="rect">
            <a:avLst/>
          </a:prstGeom>
          <a:noFill/>
        </p:spPr>
        <p:txBody>
          <a:bodyPr wrap="square" rtlCol="0">
            <a:spAutoFit/>
          </a:bodyPr>
          <a:lstStyle/>
          <a:p>
            <a:r>
              <a:rPr lang="en-US" sz="2800" dirty="0">
                <a:solidFill>
                  <a:srgbClr val="0033CC"/>
                </a:solidFill>
              </a:rPr>
              <a:t>Frontend:</a:t>
            </a:r>
          </a:p>
          <a:p>
            <a:r>
              <a:rPr lang="en-IN" sz="2800" dirty="0"/>
              <a:t>1 . HTML5</a:t>
            </a:r>
          </a:p>
          <a:p>
            <a:r>
              <a:rPr lang="en-IN" sz="2800" dirty="0"/>
              <a:t>2 . CSS3</a:t>
            </a:r>
          </a:p>
          <a:p>
            <a:r>
              <a:rPr lang="en-IN" sz="2800" dirty="0"/>
              <a:t>3 . JavaScript</a:t>
            </a:r>
          </a:p>
          <a:p>
            <a:endParaRPr lang="en-IN" sz="2800" dirty="0"/>
          </a:p>
          <a:p>
            <a:r>
              <a:rPr lang="en-US" sz="2800" dirty="0">
                <a:solidFill>
                  <a:srgbClr val="0033CC"/>
                </a:solidFill>
              </a:rPr>
              <a:t>Backend:</a:t>
            </a:r>
          </a:p>
          <a:p>
            <a:r>
              <a:rPr lang="en-IN" sz="2800" dirty="0"/>
              <a:t>1 . Node.js</a:t>
            </a:r>
          </a:p>
          <a:p>
            <a:r>
              <a:rPr lang="en-IN" sz="2800" dirty="0"/>
              <a:t>2 . MySQL</a:t>
            </a:r>
          </a:p>
          <a:p>
            <a:r>
              <a:rPr lang="en-IN" sz="2800" dirty="0"/>
              <a:t>3 . Express.js</a:t>
            </a:r>
          </a:p>
          <a:p>
            <a:r>
              <a:rPr lang="en-US" sz="2800" dirty="0">
                <a:solidFill>
                  <a:srgbClr val="0033CC"/>
                </a:solidFill>
              </a:rPr>
              <a:t>Tools:</a:t>
            </a:r>
            <a:endParaRPr lang="en-IN" sz="2800" dirty="0"/>
          </a:p>
          <a:p>
            <a:r>
              <a:rPr lang="en-IN" sz="2800" dirty="0"/>
              <a:t>1 . XAMPP Server</a:t>
            </a:r>
          </a:p>
          <a:p>
            <a:r>
              <a:rPr lang="en-IN" sz="2800" dirty="0"/>
              <a:t>2 . Visual Studio Code</a:t>
            </a:r>
          </a:p>
          <a:p>
            <a:endParaRPr lang="en-IN" sz="2800" dirty="0"/>
          </a:p>
          <a:p>
            <a:r>
              <a:rPr lang="en-US" sz="2800" dirty="0">
                <a:solidFill>
                  <a:srgbClr val="0033CC"/>
                </a:solidFill>
              </a:rPr>
              <a:t>Software Requirements</a:t>
            </a:r>
            <a:r>
              <a:rPr lang="en-US" sz="2800" dirty="0"/>
              <a:t>:</a:t>
            </a:r>
          </a:p>
          <a:p>
            <a:r>
              <a:rPr lang="en-IN" sz="2800" dirty="0"/>
              <a:t>1 . Windows</a:t>
            </a:r>
          </a:p>
          <a:p>
            <a:r>
              <a:rPr lang="en-IN" sz="2800" dirty="0"/>
              <a:t>2 . Web Browser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6555641"/>
          </a:xfrm>
          <a:prstGeom prst="rect">
            <a:avLst/>
          </a:prstGeom>
          <a:noFill/>
        </p:spPr>
        <p:txBody>
          <a:bodyPr wrap="square" rtlCol="0">
            <a:spAutoFit/>
          </a:bodyPr>
          <a:lstStyle/>
          <a:p>
            <a:r>
              <a:rPr lang="en-US" sz="2800" b="1" dirty="0"/>
              <a:t>Module 1: User Management</a:t>
            </a:r>
            <a:r>
              <a:rPr lang="en-US" sz="2800" dirty="0"/>
              <a:t> </a:t>
            </a:r>
          </a:p>
          <a:p>
            <a:r>
              <a:rPr lang="en-US" sz="2800" dirty="0"/>
              <a:t> Handles user registration, login, and authentication for students, faculty, and administrators</a:t>
            </a:r>
            <a:r>
              <a:rPr lang="en-IN" sz="2800" dirty="0"/>
              <a:t>.</a:t>
            </a:r>
          </a:p>
          <a:p>
            <a:endParaRPr lang="en-IN" sz="2800" dirty="0"/>
          </a:p>
          <a:p>
            <a:r>
              <a:rPr lang="en-US" sz="2800" b="1" dirty="0"/>
              <a:t>Module 2: Event &amp; Registration Management</a:t>
            </a:r>
            <a:r>
              <a:rPr lang="en-US" sz="2800" dirty="0"/>
              <a:t> </a:t>
            </a:r>
          </a:p>
          <a:p>
            <a:r>
              <a:rPr lang="en-US" sz="2800" dirty="0"/>
              <a:t> Allows creation, update, deletion of events and enables users to view and register for events.</a:t>
            </a:r>
          </a:p>
          <a:p>
            <a:endParaRPr lang="en-IN" sz="2800" dirty="0"/>
          </a:p>
          <a:p>
            <a:r>
              <a:rPr lang="en-US" sz="2800" b="1" dirty="0"/>
              <a:t>Module 3: Real-Time Synchronization Module</a:t>
            </a:r>
            <a:r>
              <a:rPr lang="en-US" sz="2800" dirty="0"/>
              <a:t> </a:t>
            </a:r>
          </a:p>
          <a:p>
            <a:r>
              <a:rPr lang="en-US" sz="2800" dirty="0"/>
              <a:t>Ensures instant updates of event and registration data across all users without page refresh.</a:t>
            </a:r>
          </a:p>
          <a:p>
            <a:endParaRPr lang="en-IN" sz="2800" dirty="0"/>
          </a:p>
          <a:p>
            <a:r>
              <a:rPr lang="en-US" sz="2800" b="1" dirty="0"/>
              <a:t>Module 4: Database Management</a:t>
            </a:r>
            <a:r>
              <a:rPr lang="en-US" sz="2800" dirty="0"/>
              <a:t> </a:t>
            </a:r>
          </a:p>
          <a:p>
            <a:r>
              <a:rPr lang="en-US" sz="2800" dirty="0"/>
              <a:t> Stores and manages user, event, and registration data securely with consistency.</a:t>
            </a:r>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5" name="Picture 4">
            <a:extLst>
              <a:ext uri="{FF2B5EF4-FFF2-40B4-BE49-F238E27FC236}">
                <a16:creationId xmlns:a16="http://schemas.microsoft.com/office/drawing/2014/main" id="{D9BD6D94-11AC-996E-FAD4-0610831628C2}"/>
              </a:ext>
            </a:extLst>
          </p:cNvPr>
          <p:cNvPicPr>
            <a:picLocks noChangeAspect="1"/>
          </p:cNvPicPr>
          <p:nvPr/>
        </p:nvPicPr>
        <p:blipFill>
          <a:blip r:embed="rId3"/>
          <a:stretch>
            <a:fillRect/>
          </a:stretch>
        </p:blipFill>
        <p:spPr>
          <a:xfrm>
            <a:off x="1826127" y="2015464"/>
            <a:ext cx="15599524" cy="7472041"/>
          </a:xfrm>
          <a:prstGeom prst="rect">
            <a:avLst/>
          </a:prstGeom>
        </p:spPr>
      </p:pic>
      <p:pic>
        <p:nvPicPr>
          <p:cNvPr id="4" name="Picture 3">
            <a:extLst>
              <a:ext uri="{FF2B5EF4-FFF2-40B4-BE49-F238E27FC236}">
                <a16:creationId xmlns:a16="http://schemas.microsoft.com/office/drawing/2014/main" id="{51FFBC4F-61B6-5FFD-F0F1-27F0948DED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5691" y="2015463"/>
            <a:ext cx="15791957" cy="790378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1D32D06-4218-3FAD-9489-02B33B8EEE22}"/>
              </a:ext>
            </a:extLst>
          </p:cNvPr>
          <p:cNvPicPr>
            <a:picLocks noChangeAspect="1"/>
          </p:cNvPicPr>
          <p:nvPr/>
        </p:nvPicPr>
        <p:blipFill>
          <a:blip r:embed="rId3"/>
          <a:stretch>
            <a:fillRect/>
          </a:stretch>
        </p:blipFill>
        <p:spPr>
          <a:xfrm>
            <a:off x="1860055" y="1982349"/>
            <a:ext cx="16416937" cy="6496542"/>
          </a:xfrm>
          <a:prstGeom prst="rect">
            <a:avLst/>
          </a:prstGeom>
        </p:spPr>
      </p:pic>
      <p:pic>
        <p:nvPicPr>
          <p:cNvPr id="4" name="Picture 3">
            <a:extLst>
              <a:ext uri="{FF2B5EF4-FFF2-40B4-BE49-F238E27FC236}">
                <a16:creationId xmlns:a16="http://schemas.microsoft.com/office/drawing/2014/main" id="{37FAB9AC-FB0D-C68D-6582-FB1952EDB4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416" y="1891076"/>
            <a:ext cx="16464576" cy="668142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EF1145C9-8DB7-CAB6-EB3A-A463ECA5A68E}"/>
              </a:ext>
            </a:extLst>
          </p:cNvPr>
          <p:cNvPicPr>
            <a:picLocks noChangeAspect="1"/>
          </p:cNvPicPr>
          <p:nvPr/>
        </p:nvPicPr>
        <p:blipFill>
          <a:blip r:embed="rId3"/>
          <a:stretch>
            <a:fillRect/>
          </a:stretch>
        </p:blipFill>
        <p:spPr>
          <a:xfrm>
            <a:off x="1870048" y="1888642"/>
            <a:ext cx="16228701" cy="6612332"/>
          </a:xfrm>
          <a:prstGeom prst="rect">
            <a:avLst/>
          </a:prstGeom>
        </p:spPr>
      </p:pic>
      <p:pic>
        <p:nvPicPr>
          <p:cNvPr id="3" name="Picture 2">
            <a:extLst>
              <a:ext uri="{FF2B5EF4-FFF2-40B4-BE49-F238E27FC236}">
                <a16:creationId xmlns:a16="http://schemas.microsoft.com/office/drawing/2014/main" id="{2F6FDEAB-BDAC-A5F5-D436-2CB7AE1A1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6098" y="1786026"/>
            <a:ext cx="16342652" cy="694114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3795CA3-5560-C27B-3036-534CCB792119}"/>
              </a:ext>
            </a:extLst>
          </p:cNvPr>
          <p:cNvSpPr txBox="1"/>
          <p:nvPr/>
        </p:nvSpPr>
        <p:spPr>
          <a:xfrm>
            <a:off x="2043686" y="2247900"/>
            <a:ext cx="19024988" cy="6001643"/>
          </a:xfrm>
          <a:prstGeom prst="rect">
            <a:avLst/>
          </a:prstGeom>
          <a:noFill/>
        </p:spPr>
        <p:txBody>
          <a:bodyPr wrap="square">
            <a:spAutoFit/>
          </a:bodyPr>
          <a:lstStyle/>
          <a:p>
            <a:r>
              <a:rPr lang="en-US" sz="3200" b="1" dirty="0"/>
              <a:t>Advantages:</a:t>
            </a:r>
            <a:endParaRPr lang="en-US" sz="3200" dirty="0"/>
          </a:p>
          <a:p>
            <a:r>
              <a:rPr lang="en-US" sz="3200" dirty="0"/>
              <a:t>Instant event updates in real-time.</a:t>
            </a:r>
          </a:p>
          <a:p>
            <a:r>
              <a:rPr lang="en-US" sz="3200" dirty="0"/>
              <a:t>No need for manual page refresh.</a:t>
            </a:r>
          </a:p>
          <a:p>
            <a:r>
              <a:rPr lang="en-US" sz="3200" dirty="0"/>
              <a:t>Prevents scheduling conflicts.</a:t>
            </a:r>
          </a:p>
          <a:p>
            <a:r>
              <a:rPr lang="en-US" sz="3200" dirty="0"/>
              <a:t>Improved user experience.</a:t>
            </a:r>
          </a:p>
          <a:p>
            <a:r>
              <a:rPr lang="en-US" sz="3200" dirty="0"/>
              <a:t>Scalable system for large users.</a:t>
            </a:r>
          </a:p>
          <a:p>
            <a:endParaRPr lang="en-US" sz="3200" dirty="0"/>
          </a:p>
          <a:p>
            <a:r>
              <a:rPr lang="en-US" sz="3200" b="1" dirty="0"/>
              <a:t>Limitations:</a:t>
            </a:r>
            <a:endParaRPr lang="en-US" sz="3200" dirty="0"/>
          </a:p>
          <a:p>
            <a:r>
              <a:rPr lang="en-US" sz="3200" dirty="0"/>
              <a:t>Requires a stable internet connection.</a:t>
            </a:r>
          </a:p>
          <a:p>
            <a:r>
              <a:rPr lang="en-US" sz="3200" dirty="0"/>
              <a:t>WebSocket configuration is complex.</a:t>
            </a:r>
          </a:p>
          <a:p>
            <a:r>
              <a:rPr lang="en-US" sz="3200" dirty="0"/>
              <a:t>Security challenges in real-time systems. </a:t>
            </a:r>
          </a:p>
          <a:p>
            <a:r>
              <a:rPr lang="en-US" sz="3200" dirty="0"/>
              <a:t>High server load handling required.</a:t>
            </a: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331</TotalTime>
  <Words>995</Words>
  <Application>Microsoft Office PowerPoint</Application>
  <PresentationFormat>Custom</PresentationFormat>
  <Paragraphs>231</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Gotham Bold Italics</vt:lpstr>
      <vt:lpstr>Cambria</vt:lpstr>
      <vt:lpstr>Gotham</vt:lpstr>
      <vt:lpstr>Arial</vt:lpstr>
      <vt:lpstr>Times New Roman</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munag</dc:creator>
  <cp:lastModifiedBy>Sai 2022</cp:lastModifiedBy>
  <cp:revision>14</cp:revision>
  <dcterms:created xsi:type="dcterms:W3CDTF">2006-08-16T00:00:00Z</dcterms:created>
  <dcterms:modified xsi:type="dcterms:W3CDTF">2026-05-06T04:31:39Z</dcterms:modified>
  <dc:identifier>DAHCaYqJ9OU</dc:identifier>
</cp:coreProperties>
</file>